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220ad15f2427b" /><Relationship Type="http://schemas.openxmlformats.org/officeDocument/2006/relationships/extended-properties" Target="/docProps/app.xml" Id="R663444b38fd747c8" /><Relationship Type="http://schemas.openxmlformats.org/officeDocument/2006/relationships/officeDocument" Target="/ppt/presentation.xml" Id="R736cc78f8a8241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9124bd1fdf47d4"/>
  </p:sldMasterIdLst>
  <p:notesMasterIdLst>
    <p:notesMasterId xmlns:r="http://schemas.openxmlformats.org/officeDocument/2006/relationships" r:id="R55ac2414839345b5"/>
  </p:notesMasterIdLst>
  <p:sldIdLst>
    <p:sldId xmlns:r="http://schemas.openxmlformats.org/officeDocument/2006/relationships" id="256" r:id="R322fe4f2068c4349"/>
    <p:sldId xmlns:r="http://schemas.openxmlformats.org/officeDocument/2006/relationships" id="257" r:id="R816e727fa8994f5d"/>
    <p:sldId xmlns:r="http://schemas.openxmlformats.org/officeDocument/2006/relationships" id="258" r:id="R03a9c2f7a99c4d4b"/>
    <p:sldId xmlns:r="http://schemas.openxmlformats.org/officeDocument/2006/relationships" id="259" r:id="R9e841459da2a4f07"/>
    <p:sldId xmlns:r="http://schemas.openxmlformats.org/officeDocument/2006/relationships" id="260" r:id="Ra3513e7cd2cb444c"/>
    <p:sldId xmlns:r="http://schemas.openxmlformats.org/officeDocument/2006/relationships" id="261" r:id="R93d53245aa27431e"/>
    <p:sldId xmlns:r="http://schemas.openxmlformats.org/officeDocument/2006/relationships" id="262" r:id="Rcf6a3be722e848bf"/>
    <p:sldId xmlns:r="http://schemas.openxmlformats.org/officeDocument/2006/relationships" id="263" r:id="Rab5287f0df8443b1"/>
    <p:sldId xmlns:r="http://schemas.openxmlformats.org/officeDocument/2006/relationships" id="264" r:id="R7351ba605c314625"/>
    <p:sldId xmlns:r="http://schemas.openxmlformats.org/officeDocument/2006/relationships" id="265" r:id="R2cd402155bb048fa"/>
    <p:sldId xmlns:r="http://schemas.openxmlformats.org/officeDocument/2006/relationships" id="266" r:id="Ra970dafeace448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124bd1fdf47d4" /><Relationship Type="http://schemas.openxmlformats.org/officeDocument/2006/relationships/theme" Target="/ppt/theme/theme1.xml" Id="R8fa2eb88eab84cb4" /><Relationship Type="http://schemas.openxmlformats.org/officeDocument/2006/relationships/notesMaster" Target="/ppt/notesMasters/notesMaster1.xml" Id="R55ac2414839345b5" /><Relationship Type="http://schemas.openxmlformats.org/officeDocument/2006/relationships/presProps" Target="/ppt/presProps.xml" Id="R3e614c9b27374ad1" /><Relationship Type="http://schemas.openxmlformats.org/officeDocument/2006/relationships/viewProps" Target="/ppt/viewProps.xml" Id="R39ee64e575e440f6" /><Relationship Type="http://schemas.openxmlformats.org/officeDocument/2006/relationships/tableStyles" Target="/ppt/tableStyles.xml" Id="Rf985f91eaf014af2" /><Relationship Type="http://schemas.openxmlformats.org/officeDocument/2006/relationships/slide" Target="/ppt/slides/slide1.xml" Id="R322fe4f2068c4349" /><Relationship Type="http://schemas.openxmlformats.org/officeDocument/2006/relationships/slide" Target="/ppt/slides/slide2.xml" Id="R816e727fa8994f5d" /><Relationship Type="http://schemas.openxmlformats.org/officeDocument/2006/relationships/slide" Target="/ppt/slides/slide3.xml" Id="R03a9c2f7a99c4d4b" /><Relationship Type="http://schemas.openxmlformats.org/officeDocument/2006/relationships/slide" Target="/ppt/slides/slide4.xml" Id="R9e841459da2a4f07" /><Relationship Type="http://schemas.openxmlformats.org/officeDocument/2006/relationships/slide" Target="/ppt/slides/slide5.xml" Id="Ra3513e7cd2cb444c" /><Relationship Type="http://schemas.openxmlformats.org/officeDocument/2006/relationships/slide" Target="/ppt/slides/slide6.xml" Id="R93d53245aa27431e" /><Relationship Type="http://schemas.openxmlformats.org/officeDocument/2006/relationships/slide" Target="/ppt/slides/slide7.xml" Id="Rcf6a3be722e848bf" /><Relationship Type="http://schemas.openxmlformats.org/officeDocument/2006/relationships/slide" Target="/ppt/slides/slide8.xml" Id="Rab5287f0df8443b1" /><Relationship Type="http://schemas.openxmlformats.org/officeDocument/2006/relationships/slide" Target="/ppt/slides/slide9.xml" Id="R7351ba605c314625" /><Relationship Type="http://schemas.openxmlformats.org/officeDocument/2006/relationships/slide" Target="/ppt/slides/slide10.xml" Id="R2cd402155bb048fa" /><Relationship Type="http://schemas.openxmlformats.org/officeDocument/2006/relationships/slide" Target="/ppt/slides/slide11.xml" Id="Ra970dafeace4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925468e6385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641781367461a" /><Relationship Type="http://schemas.openxmlformats.org/officeDocument/2006/relationships/notesMaster" Target="/ppt/notesMasters/notesMaster1.xml" Id="R4ac16fdebb5d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247f5cd9294a8c" /><Relationship Type="http://schemas.openxmlformats.org/officeDocument/2006/relationships/notesMaster" Target="/ppt/notesMasters/notesMaster1.xml" Id="R1d4d8365ba1c47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527b61c93a4f9f" /><Relationship Type="http://schemas.openxmlformats.org/officeDocument/2006/relationships/notesMaster" Target="/ppt/notesMasters/notesMaster1.xml" Id="R38239723863248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d702dafa6e4661" /><Relationship Type="http://schemas.openxmlformats.org/officeDocument/2006/relationships/notesMaster" Target="/ppt/notesMasters/notesMaster1.xml" Id="R8257d700c3e64b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8398723b74930" /><Relationship Type="http://schemas.openxmlformats.org/officeDocument/2006/relationships/notesMaster" Target="/ppt/notesMasters/notesMaster1.xml" Id="Rc21757ae4dc344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d5af5ad41c4129" /><Relationship Type="http://schemas.openxmlformats.org/officeDocument/2006/relationships/notesMaster" Target="/ppt/notesMasters/notesMaster1.xml" Id="Re81a6fe1f9c0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90cfddc1ac449d" /><Relationship Type="http://schemas.openxmlformats.org/officeDocument/2006/relationships/notesMaster" Target="/ppt/notesMasters/notesMaster1.xml" Id="R716be3a19312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2ab127bae34259" /><Relationship Type="http://schemas.openxmlformats.org/officeDocument/2006/relationships/notesMaster" Target="/ppt/notesMasters/notesMaster1.xml" Id="Ra0f6d6a2d6e94b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ab53c0af8148ac" /><Relationship Type="http://schemas.openxmlformats.org/officeDocument/2006/relationships/notesMaster" Target="/ppt/notesMasters/notesMaster1.xml" Id="Rf56d9fab93d5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d96e492b434871" /><Relationship Type="http://schemas.openxmlformats.org/officeDocument/2006/relationships/notesMaster" Target="/ppt/notesMasters/notesMaster1.xml" Id="R86f2c0ebdaa045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f5879756744d48" /><Relationship Type="http://schemas.openxmlformats.org/officeDocument/2006/relationships/notesMaster" Target="/ppt/notesMasters/notesMaster1.xml" Id="R95c6f4187dd9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5f3ce191c4c8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25401869af34aad" /><Relationship Type="http://schemas.openxmlformats.org/officeDocument/2006/relationships/slideLayout" Target="/ppt/slideLayouts/slideLayout2.xml" Id="Ra513953f65fe4c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3953f65fe4c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465e944904135" /><Relationship Type="http://schemas.openxmlformats.org/officeDocument/2006/relationships/image" Target="/ppt/media/image.png" Id="Rd6b84a36ba1044ef" /><Relationship Type="http://schemas.openxmlformats.org/officeDocument/2006/relationships/image" Target="/ppt/media/image.svg" Id="Rfe226d437a724352" /><Relationship Type="http://schemas.openxmlformats.org/officeDocument/2006/relationships/notesSlide" Target="/ppt/notesSlides/notesSlide1.xml" Id="R9c1be7379a9948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22d4b3cf5a4d14" /><Relationship Type="http://schemas.openxmlformats.org/officeDocument/2006/relationships/notesSlide" Target="/ppt/notesSlides/notesSlide2.xml" Id="Rdcb596e4fae4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9020ec0044118" /><Relationship Type="http://schemas.openxmlformats.org/officeDocument/2006/relationships/notesSlide" Target="/ppt/notesSlides/notesSlide3.xml" Id="R9128fd19e98743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7e2e13ec4c4a5a" /><Relationship Type="http://schemas.openxmlformats.org/officeDocument/2006/relationships/notesSlide" Target="/ppt/notesSlides/notesSlide4.xml" Id="Rbffcc215607b4c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2aa23cafc4cc6" /><Relationship Type="http://schemas.openxmlformats.org/officeDocument/2006/relationships/image" Target="/ppt/media/image2.png" Id="R07c92f84c5024d6a" /><Relationship Type="http://schemas.openxmlformats.org/officeDocument/2006/relationships/image" Target="/ppt/media/image2.svg" Id="Rbbc42246855f409e" /><Relationship Type="http://schemas.openxmlformats.org/officeDocument/2006/relationships/notesSlide" Target="/ppt/notesSlides/notesSlide5.xml" Id="Rcf7ac7407de04c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812d65e9b4523" /><Relationship Type="http://schemas.openxmlformats.org/officeDocument/2006/relationships/notesSlide" Target="/ppt/notesSlides/notesSlide6.xml" Id="R0ac6fb38007f49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970a37fdc4ad6" /><Relationship Type="http://schemas.openxmlformats.org/officeDocument/2006/relationships/notesSlide" Target="/ppt/notesSlides/notesSlide7.xml" Id="R862c7355ff7c47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3d013afae4b1c" /><Relationship Type="http://schemas.openxmlformats.org/officeDocument/2006/relationships/image" Target="/ppt/media/image3.png" Id="R77138a65a04e4b92" /><Relationship Type="http://schemas.openxmlformats.org/officeDocument/2006/relationships/image" Target="/ppt/media/image3.svg" Id="R557ea60431d54f43" /><Relationship Type="http://schemas.openxmlformats.org/officeDocument/2006/relationships/notesSlide" Target="/ppt/notesSlides/notesSlide8.xml" Id="R1ba3996274c24e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137903dcd4ced" /><Relationship Type="http://schemas.openxmlformats.org/officeDocument/2006/relationships/notesSlide" Target="/ppt/notesSlides/notesSlide9.xml" Id="Re9587dc52351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8c78db906143d0" /><Relationship Type="http://schemas.openxmlformats.org/officeDocument/2006/relationships/notesSlide" Target="/ppt/notesSlides/notesSlide10.xml" Id="Rece336b8ccf144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b83a2a4d044019" /><Relationship Type="http://schemas.openxmlformats.org/officeDocument/2006/relationships/notesSlide" Target="/ppt/notesSlides/notesSlide11.xml" Id="Rc3504f33794445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53719-BEB0-4AF1-95B0-ED3DD46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0F7B0-D575-4C59-B9A8-1ADA2EDA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0BCEA-19A5-4B70-907F-D214D6B4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8D04A-88D6-4F38-8117-11650B8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2BA36-E766-4ED0-9AEE-4767A1E0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77281-B329-492C-AE16-8F971AB3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810A8-D435-4E23-9429-72378198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A3742-1A6B-4713-BB55-4806CE27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760AA-22C6-4A0F-B490-5483171A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BA1F0-FD0A-40DE-B441-CCC5EA7F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78793-19F5-4A97-97FF-1115888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FFF82-E495-4DF1-AA31-C01C73F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3B5A9-9BF3-4DCE-AEAA-460B888A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8EA86-769B-4EE9-90E2-30098534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0E5BE-2650-42D9-979D-930EB0A7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C2930-47E8-4359-9ADA-727A4F48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79CFE-04F2-4DDE-BB23-12442709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F4624-0E76-457E-854A-2BCDDDFA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A994E-692C-4656-B259-4F122E4B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9D8BE-7BC4-45CB-A6F9-1AEA40F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F9D71-B84B-4F08-9FB9-FFF05EB7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CDC58-3195-43A7-8E7B-F346FB7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HOMEREACH POLITICAL</a:t>
            </a:r>
          </a:p>
        </p:txBody>
      </p:sp>
      <p:sp>
        <p:nvSpPr>
          <p:cNvPr id="2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45524E-D06D-45F0-85C0-1CDAA5DD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67BD6-289A-418F-AFE6-69B298D8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PREPARED FOR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317C9-4001-40F8-95D0-4100CA40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Ohio Voter Contact &amp; Geographic Saturation Strategy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76E2C-5257-4056-B6D3-093CE76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A proposal for Dr. Amy Acton for Governor showing how HomeReach can plan, creative, price, and execute statewide postcard programs.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B7633-40D9-44EF-8605-10F065C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286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2A558-86D0-4094-ABC6-2BCB2E48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3057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Prepared for Dr. Amy Acton for Governor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326679-2F7A-48C4-8DC2-6770733C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3000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9282D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03A21-8DB0-4DD1-85A5-1E044E3F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2771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AI-powered mail strategy + execution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84a36ba1044ef">
            <a:extLst>
              <a:ext uri="{96DAC541-7B7A-43D3-8B79-37D633B846F1}">
                <asvg:svgBlip xmlns:asvg="http://schemas.microsoft.com/office/drawing/2016/SVG/main" r:embed="Rfe226d437a7243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0" y="914400"/>
            <a:ext cx="4191000" cy="33909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AEE988-5ED4-42C5-BF42-43C0301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3429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3E969-FA00-4741-8FD6-2DF29400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81550"/>
            <a:ext cx="293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Route overlays are planning visualizations until USPS counts are imported and timestamped.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940C9B-1235-4E5B-980B-FF73703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D4CA2E-9821-479B-9230-D33BC57C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32735A-17F9-40FB-8BB0-8F7D04EE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07444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6B47A-DC12-4B2E-B925-97C2362B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9EB7F-6330-4B20-8808-228A668B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3F524-E149-4F6D-AEB2-EDD7A43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F5EDB-83CF-44DF-87DF-47E01F97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78D64-981C-4A2E-A7BA-C53F6B37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A22A5-5414-4D9D-99D7-574DBD30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BD235-3220-4075-9B15-DB4F5C86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CB074-212D-4FB0-ACA4-5C3E80DB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8D3E6-3DB6-4659-A5C8-C9517293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8C12A-70E8-494A-9FE6-50E1FFD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F1324-5FC9-45D2-B27C-58058EC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BA740-2959-4B3B-B45C-0C9ADE55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8AD0E-90C9-43A2-B000-FC0111A8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260D-7898-461F-8BE6-8D7320DE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08A13-B19C-4B55-8849-B587260C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33585-AE72-4AF6-8765-B85A4CA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1B4FD-DC70-4B03-B53F-4343E62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9DEC1-458C-4918-88ED-CD324CBB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7F73B-63BF-4BA0-8A6F-44557525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C0977-FF9A-4F52-8F6D-917FC492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3840E-E2FE-4B64-9891-35070BBD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119C8EB-F47C-45F7-B72F-45DBFA3E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A73EA-62D9-49DE-A240-C427122C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PLATFORM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18B92-F72A-465D-A0D2-8C4D596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HomeReach turns mail into an operating system for statewide voter contact.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3392A-EF19-4146-9C86-22866A13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Built from logistics and operational discipline: route planning, timing, approvals, pricing, and production visibility in one workflow.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AB205-06CB-49E6-8965-8D7AE958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287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5C296-25E6-490A-910C-AF54F4B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00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Campaign intelligence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BFC51-291F-47A0-940E-1DB949DD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5732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Public sources, candidate profile, research gaps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47265-F89E-4110-86D3-77DE6933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66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9CA27-5273-4F2A-8FA6-06328644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5A5C2-578D-4B56-9EC9-A6EDF57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Geographic planning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BEFDD-420F-4306-AD51-18C085E4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2412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County, ZIP, route clusters, media-market logic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BAECB-368C-4FF4-8E05-5E0B6CA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74F84-4691-4D80-A9FC-90D1259A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152D74-D54A-4D9B-BF15-C527ECEB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Creative engine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956132-13AE-45DC-BB4B-CDFE93B1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9092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Front/back concepts, comments, approvals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9A5857-064E-4690-A7C0-4F53313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36F52A-A886-4FB5-807F-12244837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2C1DA5-5692-4BC9-8BED-64A8024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Execution control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2C89FE-401D-4D9C-929F-BA867FA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5772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Pricing, production, mail-entry timing, tracking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383E69-CE34-433C-92F7-9F853588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BE69DC-3827-4234-855B-0D9B23C3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Built from operational and logistics expertise rather than traditional print-shop thinking.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EAC5F8-DE54-4C57-B7B0-ABE9A243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E2A415-AF27-4907-AAFE-3C0740D0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F4C55F-C2C0-4095-A205-2A1E006B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97737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DE0B6-3CEA-47E5-A3E4-046A4A0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80633-A576-44B9-B3BA-54025F5E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3D71F-8DC1-4BAB-9DAF-A8DF72A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9BE11-EAF1-444D-A903-411F2645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FF600-A878-45EF-B878-7C9C782D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25429-59F8-4992-B130-D391B6CF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516D1-CE10-4967-94C1-782ED9C6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D9466-D9BA-4212-8FE2-4A57BFD3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8DE98-F564-401B-8604-73266C14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C14B2-5354-4B52-87FF-BB92E12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95753-BEC2-4B67-9BB7-3EDD52C4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25202-85D7-4255-8183-6663712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58B73-887B-4A71-9603-03C5E39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A4537-F1B8-4A33-8A27-04B57022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5D011-23EA-490C-AAE1-F1438AE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C073E-36C8-4FD7-A4EB-132328C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BDBAA-D069-42A7-B2B9-2DCC0FB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4083B-D283-4FA1-884D-8A5DF06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314EE-7CEC-44AF-9625-AB4BA9E6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C5D33-5CE1-4BE7-864D-CCD81415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8E4C1-9862-4D8C-90EC-605CB3C6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A799CB-4AA2-425B-B113-BF6FFD2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3E1E4-B4C0-4167-80D6-600212B2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CAMPAIGN PROBLEM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06FEF-ACD8-4769-8579-8A9C791B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Statewide campaigns lose time when mail strategy, creative, and execution live in separate rooms.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2D417-CF02-4440-A7C7-3B3DD421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Rising costs and fragmented attention make unmanaged blanket mail expensive and hard to evaluate.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E1E70-3F7C-4C31-9AEA-9C4B6067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143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Cost pressure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F86DC-4F1A-4A43-9F44-D25505F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C8E93-7442-42DE-BDB9-897D878F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18002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A8A32-550F-4C07-8F6C-821F3A48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143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86%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0A75C-82CA-4043-BF51-AB6F4ABB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85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Timing risk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0FC5BC-2589-4F46-9CA5-CD6F96DD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335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24010-6C40-4DD4-9153-158F659C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33575"/>
            <a:ext cx="1552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917F97-DDC3-407E-91D9-A0B9F64F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8859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74%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110D87-FBE5-4200-B07C-E7136593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Weak visibility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0D7407-C98A-496D-9FE7-E12211C3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65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D26083-3C84-4F35-AB3B-7733CB9A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652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340E1-8A83-4715-AB38-1FA2DD2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289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9EB90-446E-40CC-A444-EC5CC52A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Generic creative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099C9A-C868-46D0-89A0-BC7E8801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94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154194-B79A-44A5-BD8B-8A644D0A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94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9AB25C-D71A-4DEF-B617-05540707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371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68%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A079F2-8CCE-42E4-988E-37F8094C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1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 waste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E317C6-220E-4D06-984A-922DBE24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CCD24E-5642-4017-B4BC-9904326D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B9C8B7-B3A3-42E2-BB0B-E26F5A57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1148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78%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D61762-7D34-4DC8-BEAC-3150FB6B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4229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7F1D1D">
              <a:alpha val="20000"/>
            </a:srgbClr>
          </a:solidFill>
          <a:ln xmlns:a="http://schemas.openxmlformats.org/drawingml/2006/main" w="9525">
            <a:solidFill>
              <a:srgbClr val="FCA5A5">
                <a:alpha val="20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395378-5DA3-49A9-B126-3BFD87C4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53050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Traditional mail vendors often quote a job. Campaigns need to manage an operation.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4D3950-C02F-49A9-A1E1-6B96520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05748D-9849-4B5F-AE18-AF24057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445C3D-906D-4033-AA9C-8C5EC1B6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81539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35D41-F107-49B7-8E03-504812DE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A4FB0-042C-453B-8E49-E1EA45CA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9F1D1-C366-49B7-BB24-F6BAF02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5F4A1-DF5C-4E61-8BD0-63355053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81EB1-B665-49F0-8481-9E40FBE1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E2C3D-2FE4-4C9E-9C64-F6D59E3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8137C-6854-45B4-BAC8-41E2DE6B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8370-1A09-4FBE-A14B-A9E0CF76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75BDB-9F34-46CD-B452-49933EA6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5825A-FCFE-40FE-8F29-0604C10C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D6D7B-40D7-4507-A95B-5F3AAED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A0232-E100-4483-9A5B-85179BE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EE41F-F4C1-49F0-8BD3-D4144F20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3B9A4-F75E-4EF7-8EEC-0AB0DA57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CAA8D-B582-46ED-9928-DAB45DF4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67878-C0F8-4EB5-8A13-063E1CC9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EDDFB-411E-475C-A4DE-944DC77B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D5378-1FD5-4258-BDF7-04FCAF8A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D0E84-3344-4EC6-AB6F-D9D04FE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E2C74-2A70-493E-A0F8-F07188D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01588-F5F3-4798-96F2-5C421012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5CCFAC-E5CC-42E5-A6F0-B5178FBE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BBA7B-173F-41A1-A678-71052A1A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B295C-4833-4F75-AD4D-33B0CED8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HomeReach compresses quote, map, creative, approval, and mail execution into one visible workflow.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27225-7A23-4BE3-91F7-98D23C99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The platform replaces slow static quoting with coordinated scenario planning and route-aware campaign execution.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7EB27-C46A-4194-A8C9-4D5693F9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2095500" cy="37909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509F1-6539-462A-92F3-F76B82C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990600"/>
            <a:ext cx="2095500" cy="37909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9525">
            <a:solidFill>
              <a:srgbClr val="93C5FD">
                <a:alpha val="3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D0D380-9AAF-417B-80C5-5FFE92EF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57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Traditional vendor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C1C20-DA6B-4894-BEAC-75C4CAC1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57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HomeReach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80104-74B5-4F2C-B124-44E90147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907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- Quote delays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01DA0-EFE3-4326-8433-46CBD6B1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- Static proofs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B0D8D-A839-4EBF-937D-6C64A141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- Disconnected approvals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C4D0FE-316B-4D06-BBC8-C12739EE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- Limited route visibility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491356-F382-48AA-B8C0-9C8D3096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- Manual status checks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1879BC-5221-4533-BCD6-FD0BA991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- Fast scenarios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28177E-1151-4148-8D36-F9F41057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- AI-assisted strategy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4A77D0-E4C6-4BAE-A67C-5BD3CD5C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- Flipbook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F6527E-4AC7-4DAC-B605-A161B246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- Route-aware maps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261EBE-91A0-4ACE-8545-A4DA7EE9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719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- Command dashboard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A601CC-B4BE-4355-BCB5-021067C0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62550"/>
            <a:ext cx="2590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9282D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523F06-2940-4386-8A39-D1F4E727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387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workflow from map to mail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04586B-BE8C-405F-AEDA-2C693615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ED1504-973D-4BDE-9600-2293A199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381578-9ED6-4FFF-84C8-5BDB3C86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9312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81AC1-E667-4566-83B8-01B65988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4681D-7EC0-4122-AA95-CB64326E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EEA32-3BE6-4D9D-8E85-83011235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86B26-E311-4175-8D20-FAE0D9B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4F6E8-5C8A-4F5E-826D-83F481FF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BA246-61F9-4290-87E5-DEC4901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09E23-177D-420E-95F1-2ACF858C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47F6D-4024-4E7B-A489-95DE674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4E1AB-39A0-4B91-ACA2-B6D8334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41C0A-6075-4874-B307-5E09EF4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D18DC-D880-4473-BA70-697344F5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6A5E9-2614-4883-9CF8-AB510EB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83721-E9E2-4DF7-8455-79482EA6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47EA6-D6FD-4670-8769-0D3A8A80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2D821-6F9A-4BF4-933B-80B8E89D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238E5-A024-48CC-BA2E-D0F7C95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2072B-27A5-4617-8D0E-DC953277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FCD13-4383-4E02-8232-73C1EB45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DA373-6477-4D47-881A-35713690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4A16E-3A1C-4C86-A2C6-AF816274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81316-2C65-4BCF-A842-A1C79E24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45F51-7186-4253-9C6F-1C6F910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OHIO TARGETING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5E4C1-A262-40CF-BEFE-26B6C8A0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5476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Acton campaign strongest mail path starts with trust-building suburbs plus turnout-critical metro corridors.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92f84c5024d6a">
            <a:extLst>
              <a:ext uri="{96DAC541-7B7A-43D3-8B79-37D633B846F1}">
                <asvg:svgBlip xmlns:asvg="http://schemas.microsoft.com/office/drawing/2016/SVG/main" r:embed="Rbbc42246855f40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2476500"/>
            <a:ext cx="3143250" cy="2571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010DC-43E3-4E06-AE90-59DA50A6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763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63838-DE4E-4861-9267-43E55CB9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009650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Franklin suburban 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E04A33-052B-47FF-A68F-2A423DB4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76350"/>
            <a:ext cx="2238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Columbus, Dublin, Hilliard, Worthington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0EC33-1343-4CD7-B660-1BD435E9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220k-340k HH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CCF274-432A-4543-8149-EA3B89D7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192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Competent, family-centered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6C4EF-9562-48ED-BE4B-61FC7665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763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1C96AD-A83E-42FD-9D39-50A076C2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09650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Cuyahoga + Lake trust corridor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3ED98-15E1-4947-BE02-934485C1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76350"/>
            <a:ext cx="2238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Cleveland, Parma, Lakewood, Mentor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09EDBD-9D4D-4F9C-96D1-1A860804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192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260k-390k HH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5C2D14-5EDF-4A83-8B67-AB40F67C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6192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Steady, empathetic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DB6EB0-AEC4-4C75-954D-729E7EB3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37B56-3C5D-4135-8FD0-03933B6F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Hamilton persuasion arc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CF8441-79C9-462A-B7D9-B2E3DDF7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238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Cincinnati, Norwood, Blue Ash, Anderson Twp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941DE0-A3BE-49EB-A6D5-EC9AD199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170k-275k HH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405DC-217B-42FA-B6E4-2748FFF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Warm, practical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4BFE0D-5DFE-445A-A755-69FA7107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8F2261-54D6-4FDB-A28B-06E677D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95550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Summit/Stark/Mahoning zone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1AAEC5-421A-4586-BBD5-31A64986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2238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Akron, Canton, Youngstown, Boardman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205EB1-9C84-4C61-ADB1-67E3B6D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185k-300k HH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B42243-CFA8-4F65-B42B-0B5D0F02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051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Plainspoken, worker-aware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319A2F-D986-4329-AE2C-BD924383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075509-BC16-482C-BDB1-448F087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Lucas NW amplifier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F09EF2-2276-4582-BB2A-FAF7F7E0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238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Toledo, Sylvania, Maumee, Bowling Green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877B2-8A71-47B7-ABDD-27DB6FFF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95k-160k HH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7A5CFC-6FFE-442D-95D0-C103B20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91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Local, deadline-aware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F3EC7B-62C7-44BF-9A96-6772597C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C6B526-B333-479E-A3B6-AAFDDCF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Delaware/Union/Warren growth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2988FF-C9BB-430A-BB63-486731E1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48150"/>
            <a:ext cx="2238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Delaware, Powell, Marysville, Mason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40DF80-80AD-4DDB-964D-2A72F25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910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105k-190k HH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4453E8-268E-40C4-88B9-1A71B25F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91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Reassuring, pragmatic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A27728-6B73-44FD-9293-2E164EE5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Final carrier-route IDs require USPS EDDM or carrier-route import before quote/checkout.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325F1B-3E49-40F6-BB9B-1CDA328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FFC652-63E8-4966-A84D-3EB989F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17E711-7BD1-4024-A8DF-1B4E9C62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32071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17699-5814-4F7A-96D3-44316302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DD62F-E7A4-4AC0-8E3D-CBD2FCDC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A18EC-47CA-4884-A646-75AA5035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10E34-B956-41AC-AD58-56D5F010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25F3F-EC1C-48CF-B94B-2555EF2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7E2CA-E11D-43EA-B717-4C77850C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B2B46-1D6C-45B2-B1F3-15C25E9B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3E374-2287-4F99-83D0-3643D2B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36717-6AFD-4438-9F95-383AF1AF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8E8A9-34CE-4A30-9CD5-F330FD0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EAE9D-CC6C-4BAD-B266-05A84DE2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D56B8-E6E6-43F1-86D8-BFFEB554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FE99C-26F4-4FB2-B951-2D93C60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315BE-2F20-48CD-90E8-50A15D6B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EF533-ECCF-40F2-B1DD-165AE7D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C5DCC-EFC5-4E06-8CBC-2B288C48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A6CB3-6219-434F-8874-2909EDC2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15D64-44F1-4BB3-9839-892DF13F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E254C-44D6-454A-9314-68D5EBDB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0C9AD-F417-4244-BC73-5D967290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2708C-AEC9-41BB-863D-882EC0FB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8F354A-7822-46E4-9F7A-6F5895B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D69F7-786D-4F37-B7EA-05C3D179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CAMPAIGN SEQUENCE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08D53-1075-4F0F-ACF1-4EC3DB6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four-wave program lets Acton build name ID, credibility, contrast, and turnout on schedule.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38F77-32CF-4050-A495-33805A9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Each phase has a distinct job, geography, cadence, quantity range, and creative lane.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FFAF3-6E06-4B80-8185-3DE3895C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9700"/>
            <a:ext cx="1123950" cy="32385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95D5A-870E-4969-90E3-4FC93BC9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D26B7-64A5-4B17-8C41-B1C6D97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819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ID + Introduction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2716BE-AA46-4E08-B4EC-DF16C3EC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5-6 months 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AF9060-7BB1-4843-8ED1-D7224FA8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850k-1.25M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8E61E-7876-40DC-B52F-008BCABB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09700"/>
            <a:ext cx="1123950" cy="32385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7F1D1D">
              <a:alpha val="26667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925E1-23A8-422A-BAD6-02CCCC4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81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A224B1-E69F-4C9F-B4B7-06592FB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819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+ Healthcare Leadership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37E50-12D1-4270-9E5A-A3138D63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3.5-4.5 months 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AAC347-CDFD-44A8-A072-174C91CD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700k-1.05M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B2F90B-49A5-4217-95FF-2C27212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09700"/>
            <a:ext cx="1123950" cy="32385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533974-B307-4162-8430-E1F0DE4C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81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D5FFE5-C670-4211-A118-D42311A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819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Contrast + Momentum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35BAD0-5E56-456D-9260-3A5F372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6-8 weeks 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2D8505-3AC3-4D0E-9C6C-1F87720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500k-850k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939CA6-A30D-4F71-AB71-B585D5CD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09700"/>
            <a:ext cx="1123950" cy="32385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7F1D1D">
              <a:alpha val="26667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32170C-5B1F-486D-B78F-DD92E7FA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81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007F50-D15A-4F6C-A498-333E73A9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38350"/>
            <a:ext cx="819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GOTV + Turnout Push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0A01DA-833F-49EA-8BE5-2C483F6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0990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Final 21 days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68F9B0-E762-40A6-8EE4-652F874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766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600k-1.1M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9BE1BD-52AA-4DF2-95B9-BB64833E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529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1C05DC-3A02-4783-B4EE-84ECD0CF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Approval gates: source lock -&gt; creative approval -&gt; route count import -&gt; quote lock -&gt; mail entry.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EEC1F0-BB69-4E87-A2B9-7F6EE909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017697-AC46-48AA-AEE2-FD01C6E7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6F9111-03CC-4830-9953-B2C1DE22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032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21FDA-BD69-4EF5-82AE-785A11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563CE-D3FE-4D4E-8279-546CC30B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8135E-19D4-401E-BDDA-630C33CB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CDB5F-DDF7-4B10-9228-AEC55965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819E0-CB18-4CDA-AE78-F94D092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11C59-588F-4770-BCEF-6082189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FF338-366B-41BC-B4DC-BDBB18B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03C8-95FB-4DEC-9126-C59F7290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A21FF-7271-4CEF-A6C6-AA8C4CF9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20CBD-2E46-42F5-9C64-16F081E0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5B763-87A1-4BA5-B787-BD0BB29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E30DF-DA4D-4B76-8380-492724A1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44555-7C67-4D08-ADED-F2F2AC97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EFC67-27C7-4B56-9B3C-83111A7B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8FE10-0627-4BCC-BCE9-92AC968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FECBB-A518-4B2B-94BF-EB7BC89D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15C0B-CD95-46BE-948D-90724B95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3BDF3-1BF7-47F3-B0A6-FFFAEC5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335D6-2991-4F42-8200-897D72B9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3E531-16F9-4A98-AF5C-FD752750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CD611-41EF-4258-9C21-F9E63380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03DC4-EED6-464F-AE15-199073B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POSTCARD CREATIVE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3F00D-5287-449D-B777-6FBF9FD9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519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AI creative layer produces complete front/back postcard concepts, not generic placeholder proofs.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DB316-38E7-4A52-BA00-F92628B7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Every phase can generate emotional, issue, trust/social-proof, and contrast/urgency options for staff review.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6C3167-EB64-4A12-8883-7AE6E2A5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C4105-1DA7-475B-807C-9FEBF5C7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7AC0B-0CA9-4871-9741-7CFC7F6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EMOTIONAL / HUMAN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75C37-0B18-443B-9D02-E6BBD481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doctor. A public servant. A governor for Ohio families.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B71F8-C689-4260-8161-A29998AD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26"/>
                </a:solidFill>
                <a:latin typeface="Aptos"/>
                <a:ea typeface="Aptos"/>
                <a:cs typeface="Aptos"/>
              </a:rPr>
              <a:t>Power belongs with the people of Ohio.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C6FD87-00C9-44AF-85DE-355F4CF1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28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282D"/>
                </a:solidFill>
                <a:latin typeface="Aptos"/>
                <a:ea typeface="Aptos"/>
                <a:cs typeface="Aptos"/>
              </a:rPr>
              <a:t>Learn Amy campaign story and make your voting plan.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E12076-3E0F-4847-BB99-87BE4F7F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1477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Paid for by [COMMITTEE]. Final disclaimer required.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BED064-CE91-475E-9E92-B49F9372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405688-5A10-495F-A184-042C81C7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F1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7A0B2-56D9-4756-AAF0-38AA1408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POLICY / ISSUE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CBD6F9-6E5C-4D9C-B7AF-54B57446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Lower costs. Stronger care. Leadership that listens.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60E55-6AD2-4206-9764-1FFC7173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26"/>
                </a:solidFill>
                <a:latin typeface="Aptos"/>
                <a:ea typeface="Aptos"/>
                <a:cs typeface="Aptos"/>
              </a:rPr>
              <a:t>What Ohio families need now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8DB8E0-FFED-4BE5-9477-6B755D53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28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282D"/>
                </a:solidFill>
                <a:latin typeface="Aptos"/>
                <a:ea typeface="Aptos"/>
                <a:cs typeface="Aptos"/>
              </a:rPr>
              <a:t>Read the affordability plan.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6E3997-C2C4-4A94-92B7-E804E738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1477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Paid for by [COMMITTEE]. Final disclaimer required.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6C75F6-9601-43B9-831E-F7719157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DA3206-29E8-4528-A1AC-2E6165F6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441E7C-5046-424C-96C9-8F55DFA3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TRUST / SOCIAL PROOF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316DE5-86DB-4E6E-9C44-2A7D63BA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Ohioans know what steady leadership looks like.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1F1F13-C1FA-4E68-96E5-C04AB1C9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863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26"/>
                </a:solidFill>
                <a:latin typeface="Aptos"/>
                <a:ea typeface="Aptos"/>
                <a:cs typeface="Aptos"/>
              </a:rPr>
              <a:t>Trusted voices. Local stakes.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3FF85-8AE0-4D52-9CBD-1C43FCF7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28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282D"/>
                </a:solidFill>
                <a:latin typeface="Aptos"/>
                <a:ea typeface="Aptos"/>
                <a:cs typeface="Aptos"/>
              </a:rPr>
              <a:t>See why Ohio leaders are paying attention.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2803A6-6353-40AE-A9CB-C6BA8034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1972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Paid for by [COMMITTEE]. Final disclaimer required.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F01973-51CC-4459-BA0E-2C3CEC6D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577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73D659-E704-4B1A-B6BD-07BFFE36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720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F1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3B2FA9-CFA7-40DF-A6BF-781FE37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CONTRAST / URGENCY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EDA270-4B63-48E0-A89A-320EE3AC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863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Ohio has a choice: more struggle, or leadership that refuses to look away.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6CC971-A811-4323-AF73-65FA177C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26"/>
                </a:solidFill>
                <a:latin typeface="Aptos"/>
                <a:ea typeface="Aptos"/>
                <a:cs typeface="Aptos"/>
              </a:rPr>
              <a:t>Do not wait until the final week.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B28F4D-64F8-4A2D-853F-2B6665C7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43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28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282D"/>
                </a:solidFill>
                <a:latin typeface="Aptos"/>
                <a:ea typeface="Aptos"/>
                <a:cs typeface="Aptos"/>
              </a:rPr>
              <a:t>Compare the choice. Vote on time.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A17DC9-5B96-4519-80EF-EEC4725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1972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Paid for by [COMMITTEE]. Final disclaimer required.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2EEBB9-CD23-4338-9E52-E2D08123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1D94DA-24B2-4D0B-A2B2-951A2B41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A0C23D-5EA0-472E-A005-E346D13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082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28821-A53B-4056-B850-07AF8277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1C138-2E9C-4397-9455-BCC3DC29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4F862-637D-4580-9190-959EF9F3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5C614-06E5-4F4B-BA61-FA7FC55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2D308-542B-4539-BE71-D10FA32C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B2142-9390-48E4-A6EF-76BB9755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D2813-446D-4C33-92B8-3C0F2265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F1FB6-CFA1-4792-B52F-2799093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B7793-F1FC-4894-BD95-4451D60A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336C9-755A-410E-9A31-00533AAB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50685-A818-4B00-B72E-F31D5855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3208D-7804-4E33-AB03-3EC5BC0E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2B59A-CB4C-43DF-A905-F51427AD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BECDF-60DA-4ED5-B7A6-6AF09BEC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B0784-BD41-4A13-8EBA-A4E50D09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3F855-D01B-48B7-9240-CFFC166B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E4E11-69F7-4AE9-B458-905C4D37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D25D7-7137-486C-A0D6-79FE3589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D38F8-D733-4BC9-B514-B9CA15C5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1B0D6-EEB0-46BB-B891-F8D14C29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C8970-78EB-41D3-8F77-DFE2E57E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6EB143-498B-4867-B973-D80BEB6C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CA1EC-494B-4EFB-833D-46574C8D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VISIBILITY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BBFEB-76A2-4FFD-96FE-F8E55D68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Campaign staff can see coverage, route readiness, creative status, and mail timing in one command 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54F75-50B0-4E91-AC8A-250B8E25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The dashboard exposes campaign readiness before money is committed or mail enters production.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0646D5-6055-4F8E-A84F-21D8FAA4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76300"/>
            <a:ext cx="47625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38a65a04e4b92">
            <a:extLst>
              <a:ext uri="{96DAC541-7B7A-43D3-8B79-37D633B846F1}">
                <asvg:svgBlip xmlns:asvg="http://schemas.microsoft.com/office/drawing/2016/SVG/main" r:embed="R557ea60431d54f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0" y="1200150"/>
            <a:ext cx="2095500" cy="16954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77096-198F-4887-9C52-B72BC82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00150"/>
            <a:ext cx="85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A20E2-67EB-4698-8155-099102A6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144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EA1BC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654A61-EF0B-47AA-BB30-D0A95E6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04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78% planning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A655E-55D3-4276-9729-461C6139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00150"/>
            <a:ext cx="85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8D2A8-0ECA-4FA6-87BE-6307077E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3144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EA1BC"/>
                </a:solidFill>
                <a:latin typeface="Aptos"/>
                <a:ea typeface="Aptos"/>
                <a:cs typeface="Aptos"/>
              </a:rPr>
              <a:t>Routes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5C20F4-9D3B-4504-BEA8-D53D2C17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04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Needs USPS lock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0E44B-6602-4DC2-8F1F-12DB4214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85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EC9A4B-7DE1-43BB-ABCC-05AA623A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EA1BC"/>
                </a:solidFill>
                <a:latin typeface="Aptos"/>
                <a:ea typeface="Aptos"/>
                <a:cs typeface="Aptos"/>
              </a:rPr>
              <a:t>Creative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33964D-7383-453B-A946-9CE227B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860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lanes ready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55142E-E1FD-486B-A72F-7ECCA285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81200"/>
            <a:ext cx="85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7F71E0-6CB6-4146-B783-C8A6A4BF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9550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EA1BC"/>
                </a:solidFill>
                <a:latin typeface="Aptos"/>
                <a:ea typeface="Aptos"/>
                <a:cs typeface="Aptos"/>
              </a:rPr>
              <a:t>Mail waves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269607-C962-4A61-8ED6-A66C6CDB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860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proposed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82FB0A-6979-464C-94F1-8F4A431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85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151DF1-A304-4761-99D6-9464BBD1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EA1BC"/>
                </a:solidFill>
                <a:latin typeface="Aptos"/>
                <a:ea typeface="Aptos"/>
                <a:cs typeface="Aptos"/>
              </a:rPr>
              <a:t>Quote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6FEC14-5A8E-4BD0-A42B-8D1AE505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50A2C8-0417-45BC-9F22-3EDF9D0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85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126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E95097-3132-4595-BA87-ADD251B6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765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EA1BC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C888C6-3E27-4078-A571-42F7459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670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6C9746-50B7-4245-8AAE-3B73A754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4000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1A33"/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B11205-7188-4CF0-B0E8-EF8EBC13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Agent next action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D69ADB-29C3-4787-96B3-88A7703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Verify official campaign contact, import USPS counts, approve source-backed creative, then produce a pilot-wave proposal.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AB76C9-FBFC-4D53-857C-A062739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283EC5-FC3A-4EDD-A4B7-157E381E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95D214-71AE-471D-AD25-BFEE671F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45540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5BC17-9E60-4602-BFBD-5D223026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44CD9-3D60-45B0-9A53-6010A245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F7E77-6BAF-4778-99FC-9A69805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37C89-66FF-4BB8-8495-E7365951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89CF4-AE90-4892-916B-77B91635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BD4C9-3052-4D1A-B5BA-CAD8A2D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2F1CB-0126-4AE2-956B-0194D8F3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593C0-A6A1-483D-89CE-7092A2B8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353AF-793E-4F6C-92F0-2B585EAC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7C59B-CE7D-405F-84D3-C2B3CB4E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A86C1-DE7C-460B-9CEA-73A0A89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AF274-CB2C-468B-9B9A-1D4418E5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92FBA-8F6E-495D-9895-6088D8D9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3BAF5-56BE-4F5B-9E5A-D8E618EE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C1C4A-06A7-46F7-8416-FEE9026A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B955D-4851-49CA-BDCD-85E60EAC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94719-2ADC-4DF6-936F-D2FFC3E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803DE-46E0-42D7-A0DA-CB8B782E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5FB97-B023-4FDC-B96F-FFBC3387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A06AB-07CB-4A90-9C56-6A44271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B4FE7-22C7-41E4-A7B0-37C6E5D9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A2C0DF-2E87-4CF0-85FF-C7EC968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8FA5E-6934-4359-BA72-911AB831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COST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11C1B-EA90-4A74-93CC-7EAA201E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Route-aware planning makes statewide mail budgets easier to forecast before final quote lock.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98D1C-FA70-40B5-A30C-17D82AF5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HomeReach separates planning estimates from verified USPS counts and final production pricing.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D9F00-14DA-4D6A-985E-3A36B4C7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62050"/>
            <a:ext cx="40957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8D7E6-CED9-4C00-912B-B4135A5B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28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Planning wave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2FC72-F608-4D8E-8D2A-85291CF9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80BF60-239D-4AFF-BEA0-FC0F1B0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1.0M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12A24E-2F2B-4BC3-84E0-A8FDDE64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240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$0.54-$0.68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44C1F-CB42-4A47-9F32-F2A9C685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A18021-2EA5-48C9-A0DE-5EF3D03C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68C3C0-3FAF-483B-92AC-FBC748B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850k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14E6FF-B5BD-47B8-B78E-02D5978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19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$0.54-$0.68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B8C637-2E82-4B45-99CF-D2D8D85D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3DF785-628B-4497-9BD6-8031164B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817A6-738E-49CF-99DB-845B577E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650k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B271C0-8CE7-421D-AA7A-8E209864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146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$0.56-$0.70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4E3426-4053-44B7-930A-83E9D949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70F9E-AE17-4249-950E-E4CFCB12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GOTV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F1E241-FCA4-44C4-B754-DA4A8C0A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900k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05D5C6-3476-42ED-8AE4-C8062D12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9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$0.54-$0.68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2BCE15-70B3-4CCE-89FA-39CB0AF2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112B13-A8BC-454E-8461-23A26749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7F1D1D">
              <a:alpha val="20000"/>
            </a:srgbClr>
          </a:solidFill>
          <a:ln xmlns:a="http://schemas.openxmlformats.org/drawingml/2006/main" w="9525">
            <a:solidFill>
              <a:srgbClr val="FCA5A5">
                <a:alpha val="20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3813E4-88D7-4F02-B01E-482F8C36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434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0F2"/>
                </a:solidFill>
                <a:latin typeface="Aptos"/>
                <a:ea typeface="Aptos"/>
                <a:cs typeface="Aptos"/>
              </a:rPr>
              <a:t>Checkout remains locked until route counts, print, postage, source timestamp, and approval are verified.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4B83B2-B1B6-4BCE-A6DF-ED607879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5CD21A-F04C-452E-9018-9798A8DE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048EB0-D297-40F8-8827-AEFB556A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06107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EAED3-D865-4FF1-858F-560B094A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99076-E1D6-46E2-9819-33E533B6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26CF5-DB4B-454B-B23F-6E08985D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6B387-6BF0-4E16-9C6A-3C4AB36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5FCD8-402D-4E32-8013-3DEE2812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51689-2CDE-4BF5-A305-93E5F87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407E0-3BD0-4800-91BF-7C099B1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70EB8-6DE0-41F0-A37D-B4EE0FBB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00D0D-1F3E-49FC-B543-5FED3FE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35CE9-D42E-4098-85C1-CC1FE48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30C1E-3FFC-4D03-AD5E-755A6D4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FEC1F-15F8-4D54-8E2A-0F75300F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EAF73-BE29-434C-8D65-60755C0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868B6-665D-4F0D-95E3-79B010D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D76AE-921D-4009-8B78-812E7234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49F0C-4D00-48DF-8FD3-26D80EE3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A610D-CFBE-4592-864A-7BE8EB32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C3ACF-89FD-4D3D-B45E-074C387A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E0AE8-CACA-4850-92F3-F0D1DDC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C0596-3CAF-467E-AF6D-BFDFCCD9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F28B7-D846-47CF-A5B2-D8013195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2D3B1DE-5C73-4392-BB22-70957701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A8924-36FA-47D0-829D-C9B42FCF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3A74A-2AA2-4CF4-A72D-F86B6676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campaign gets more than mail: it gets disciplined message repetition across the state.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1C28E-3C40-4AC4-B676-94027AC3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The outcome is a faster, clearer, more coordinated voter-contact program with operational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A7B23-083B-42D7-BF7E-4798EDB5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05100"/>
            <a:ext cx="1181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B7207-DB6E-494D-9023-1FD31EBC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B8CECC-68DF-4BE4-8546-67297463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67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Source-backed 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75ACC-F88E-4AC6-B2CA-37952E3E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60958"/>
            <a:ext cx="1181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7F1D1D">
              <a:alpha val="26667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91B01-D86D-4965-87BB-8BACB24B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13358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1E3F8A-FE20-4A1D-A33E-DD5D0A8F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122908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Aggregate geography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8B750A-2BE8-49C8-90D0-E4ED5D43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760958"/>
            <a:ext cx="1181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98402-1A09-4499-9078-CE3FAFEF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13358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439C05-7E49-46A5-A423-035DED10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122908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7A916C-FD78-4841-A1E3-5646D6A0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1181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7F1D1D">
              <a:alpha val="26667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25C135-8EB6-41FA-B6B7-A8F7BA5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B95DE9-D9B8-4730-97C8-FBACE9B7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Print + entry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62F4A-839A-48DB-BCE4-91D511FD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49242"/>
            <a:ext cx="1181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EC380F-D0A9-43E8-879A-F59C642A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01642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48C34-A782-4160-9003-54FCF07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11192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In-home + response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67907F-0C10-4BE0-8760-F74B5A1B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49242"/>
            <a:ext cx="1181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7F1D1D">
              <a:alpha val="26667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B3CCE5-CCC4-468D-8E59-AD251BEF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01642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Adjust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3A2F34-4693-4134-809C-F1270D47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11192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Next wave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615517-691F-4B69-B218-977BA9DE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Disciplined repetition, visible execution, and faster campaign decision-making.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E1A09F-0C00-4BA5-9ADE-955DE845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D93EBB-F91C-472A-BDCD-762CC8D6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3B6DA2-45EB-4ACB-817B-8CE5015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64496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763B09-D81D-45FB-B58F-715AA844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A607F-5E99-49AB-B48E-5FC1DD6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0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45BE5-40BB-4451-A388-9E64F56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6AE03-403D-47A4-9E0A-C16633E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1696E-8F58-409F-9D03-EA29C61D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D1C7-48DD-401E-8508-EB903270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3EFCE-056D-4F39-8267-2BC20FD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530F3-1E25-4288-B2A4-9FC269D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CBE81-FF40-47DB-BF8A-78D8B29E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D845A-E970-4835-9D81-5F056479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9E2B8-D103-4423-B0C9-35AB947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7256D-EC17-42F9-A3E5-7F90E4CA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A7CE1-1458-4F1F-9BB4-09E28834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B54CF-CD91-4771-BF14-BE3C7FC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2D5F4-F88F-4806-9E75-04947532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00DC7-6AE9-4470-A0F2-8FC0CA21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46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F4B83-7541-4C0B-B2BA-9DDC5DE4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BF186-D68D-4C42-B118-AEBEE5D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243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E2283-A62D-4195-A368-FC6353B6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2D317-0B73-4FFF-9344-AB195750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8D572-384F-4E51-B7BB-C2D37601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A2C49"/>
            </a:solidFill>
            <a:prstDash val="solid"/>
          </a:ln>
        </p:spPr>
      </p:sp>
      <p:sp>
        <p:nvSpPr>
          <p:cNvPr id="2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1D38D8-4DEC-4EBE-8E4A-B1AA747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80A98-138F-4CF4-9043-8110B8AF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D3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35E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040F6-207D-46E0-98BF-99ECC762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5572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Start with a focused strategy session, then convert the best route clusters into a pilot wave.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5951D-8576-4CC2-B335-20D06395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The first session should align geography, message lanes, budget range, and a sample proof-to-mail workflow.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278B8-268E-4EFD-9E50-D2BD1CF6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133350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E759D-EF13-4DB5-99F2-57FC8C98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383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ADF482-7488-4592-BBFD-BF04806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Campaign targeting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835F0-78C1-4117-9846-414E661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Confirm priority counties, message lanes, and source boundaries.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7E087-ECA3-4F4E-A560-525D899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33350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7F1D1D">
              <a:alpha val="26667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B4F1D3-6DAE-4C50-8555-FA30D00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770B48-6916-4FE3-93E5-82820241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 analysis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4DD2B-5D96-4B71-BECB-7DC201C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Import USPS/EDDM counts and build verified sample clusters.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1437B-884E-4A78-945D-07914E45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33350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9525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9B1A18-F264-4214-8607-AEE7CFFD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383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B2940B-E22F-4D23-B3B5-24B1A0E7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90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Creative direction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63F31C-08A8-4E79-B843-B154513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0F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6E0F2"/>
                </a:solidFill>
                <a:latin typeface="Aptos"/>
                <a:ea typeface="Aptos"/>
                <a:cs typeface="Aptos"/>
              </a:rPr>
              <a:t>Pick postcard lane, legal review path, and pilot-wave scope.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6DE8F3-767B-4758-BF4B-128A473C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342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9282D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26BE3E-0939-4AFC-B44D-EA4154DF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81550"/>
            <a:ext cx="320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Potential initial strategy session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63235D-FBF1-4364-A70C-9EDA6875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Built to help statewide campaigns move faster, communicate clearer, and execute mail with confidence.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65E805-7C4F-4761-B6D7-32D8E652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D24384-1277-4796-AFF4-FFEFBB64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B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1BC"/>
                </a:solidFill>
                <a:latin typeface="Aptos"/>
                <a:ea typeface="Aptos"/>
                <a:cs typeface="Aptos"/>
              </a:rPr>
              <a:t>HomeReach Political Command - proposal only; no campaign approval implied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A4CBB1-54F9-436F-B997-622DC370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2D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4572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2026-05-16T03:21:53.2300000Z</dcterms:created>
  <dcterms:modified xsi:type="dcterms:W3CDTF">2026-05-16T03:21:53.2300000Z</dcterms:modified>
</coreProperties>
</file>